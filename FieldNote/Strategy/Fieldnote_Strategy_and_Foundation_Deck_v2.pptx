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7514033ed1458f" /><Relationship Type="http://schemas.openxmlformats.org/officeDocument/2006/relationships/extended-properties" Target="/docProps/app.xml" Id="R61be9452bc804647" /><Relationship Type="http://schemas.openxmlformats.org/officeDocument/2006/relationships/officeDocument" Target="/ppt/presentation.xml" Id="R2eac2269e41446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546ac07c79419a"/>
  </p:sldMasterIdLst>
  <p:notesMasterIdLst>
    <p:notesMasterId xmlns:r="http://schemas.openxmlformats.org/officeDocument/2006/relationships" r:id="Racd61b97f86a4555"/>
  </p:notesMasterIdLst>
  <p:sldIdLst>
    <p:sldId xmlns:r="http://schemas.openxmlformats.org/officeDocument/2006/relationships" id="256" r:id="Rdce4100ecab44624"/>
    <p:sldId xmlns:r="http://schemas.openxmlformats.org/officeDocument/2006/relationships" id="257" r:id="Rd075de2c6d8a4339"/>
    <p:sldId xmlns:r="http://schemas.openxmlformats.org/officeDocument/2006/relationships" id="258" r:id="R1f84fefbaad44351"/>
    <p:sldId xmlns:r="http://schemas.openxmlformats.org/officeDocument/2006/relationships" id="259" r:id="R03c9124d6dbd4505"/>
    <p:sldId xmlns:r="http://schemas.openxmlformats.org/officeDocument/2006/relationships" id="260" r:id="R24a56244ea1c40fa"/>
    <p:sldId xmlns:r="http://schemas.openxmlformats.org/officeDocument/2006/relationships" id="261" r:id="Rdcf8af80d08141ec"/>
    <p:sldId xmlns:r="http://schemas.openxmlformats.org/officeDocument/2006/relationships" id="262" r:id="Rc2b04970a9c244e1"/>
    <p:sldId xmlns:r="http://schemas.openxmlformats.org/officeDocument/2006/relationships" id="263" r:id="Rd35b3df80f69444a"/>
    <p:sldId xmlns:r="http://schemas.openxmlformats.org/officeDocument/2006/relationships" id="264" r:id="Rdb1b24c91d524466"/>
    <p:sldId xmlns:r="http://schemas.openxmlformats.org/officeDocument/2006/relationships" id="265" r:id="R3eb424b9812e4a5f"/>
    <p:sldId xmlns:r="http://schemas.openxmlformats.org/officeDocument/2006/relationships" id="266" r:id="R5b8f8fd5cf484e4e"/>
    <p:sldId xmlns:r="http://schemas.openxmlformats.org/officeDocument/2006/relationships" id="267" r:id="Rba50f7f17e604fa4"/>
    <p:sldId xmlns:r="http://schemas.openxmlformats.org/officeDocument/2006/relationships" id="268" r:id="R49c42ba46d904cea"/>
    <p:sldId xmlns:r="http://schemas.openxmlformats.org/officeDocument/2006/relationships" id="269" r:id="R4e3b155b70984d5c"/>
    <p:sldId xmlns:r="http://schemas.openxmlformats.org/officeDocument/2006/relationships" id="270" r:id="R29837a3c4a1e4455"/>
    <p:sldId xmlns:r="http://schemas.openxmlformats.org/officeDocument/2006/relationships" id="271" r:id="R81eff76b86bf48f5"/>
    <p:sldId xmlns:r="http://schemas.openxmlformats.org/officeDocument/2006/relationships" id="272" r:id="R7df4664652ec42ee"/>
    <p:sldId xmlns:r="http://schemas.openxmlformats.org/officeDocument/2006/relationships" id="273" r:id="R379b07745b8e4f22"/>
    <p:sldId xmlns:r="http://schemas.openxmlformats.org/officeDocument/2006/relationships" id="274" r:id="R684d9b73b0b54eb0"/>
    <p:sldId xmlns:r="http://schemas.openxmlformats.org/officeDocument/2006/relationships" id="275" r:id="Rd1e22e6be69b416e"/>
    <p:sldId xmlns:r="http://schemas.openxmlformats.org/officeDocument/2006/relationships" id="276" r:id="Rcbce3b0f60db4181"/>
    <p:sldId xmlns:r="http://schemas.openxmlformats.org/officeDocument/2006/relationships" id="277" r:id="R0624523b3fac43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d5b9f55d044c51" /><Relationship Type="http://schemas.openxmlformats.org/officeDocument/2006/relationships/slideMaster" Target="/ppt/slideMasters/slideMaster1.xml" Id="Rd6546ac07c79419a" /><Relationship Type="http://schemas.openxmlformats.org/officeDocument/2006/relationships/notesMaster" Target="/ppt/notesMasters/notesMaster1.xml" Id="Racd61b97f86a4555" /><Relationship Type="http://schemas.openxmlformats.org/officeDocument/2006/relationships/presProps" Target="/ppt/presProps.xml" Id="Rccddb6826cf44fa4" /><Relationship Type="http://schemas.openxmlformats.org/officeDocument/2006/relationships/tableStyles" Target="/ppt/tableStyles.xml" Id="R61d3a89ee8cc4490" /><Relationship Type="http://schemas.openxmlformats.org/officeDocument/2006/relationships/slide" Target="/ppt/slides/slide1.xml" Id="Rdce4100ecab44624" /><Relationship Type="http://schemas.openxmlformats.org/officeDocument/2006/relationships/slide" Target="/ppt/slides/slide2.xml" Id="Rd075de2c6d8a4339" /><Relationship Type="http://schemas.openxmlformats.org/officeDocument/2006/relationships/slide" Target="/ppt/slides/slide3.xml" Id="R1f84fefbaad44351" /><Relationship Type="http://schemas.openxmlformats.org/officeDocument/2006/relationships/slide" Target="/ppt/slides/slide4.xml" Id="R03c9124d6dbd4505" /><Relationship Type="http://schemas.openxmlformats.org/officeDocument/2006/relationships/slide" Target="/ppt/slides/slide5.xml" Id="R24a56244ea1c40fa" /><Relationship Type="http://schemas.openxmlformats.org/officeDocument/2006/relationships/slide" Target="/ppt/slides/slide6.xml" Id="Rdcf8af80d08141ec" /><Relationship Type="http://schemas.openxmlformats.org/officeDocument/2006/relationships/slide" Target="/ppt/slides/slide7.xml" Id="Rc2b04970a9c244e1" /><Relationship Type="http://schemas.openxmlformats.org/officeDocument/2006/relationships/slide" Target="/ppt/slides/slide8.xml" Id="Rd35b3df80f69444a" /><Relationship Type="http://schemas.openxmlformats.org/officeDocument/2006/relationships/slide" Target="/ppt/slides/slide9.xml" Id="Rdb1b24c91d524466" /><Relationship Type="http://schemas.openxmlformats.org/officeDocument/2006/relationships/slide" Target="/ppt/slides/slide10.xml" Id="R3eb424b9812e4a5f" /><Relationship Type="http://schemas.openxmlformats.org/officeDocument/2006/relationships/slide" Target="/ppt/slides/slide11.xml" Id="R5b8f8fd5cf484e4e" /><Relationship Type="http://schemas.openxmlformats.org/officeDocument/2006/relationships/slide" Target="/ppt/slides/slide12.xml" Id="Rba50f7f17e604fa4" /><Relationship Type="http://schemas.openxmlformats.org/officeDocument/2006/relationships/slide" Target="/ppt/slides/slide13.xml" Id="R49c42ba46d904cea" /><Relationship Type="http://schemas.openxmlformats.org/officeDocument/2006/relationships/slide" Target="/ppt/slides/slide14.xml" Id="R4e3b155b70984d5c" /><Relationship Type="http://schemas.openxmlformats.org/officeDocument/2006/relationships/slide" Target="/ppt/slides/slide15.xml" Id="R29837a3c4a1e4455" /><Relationship Type="http://schemas.openxmlformats.org/officeDocument/2006/relationships/slide" Target="/ppt/slides/slide16.xml" Id="R81eff76b86bf48f5" /><Relationship Type="http://schemas.openxmlformats.org/officeDocument/2006/relationships/slide" Target="/ppt/slides/slide17.xml" Id="R7df4664652ec42ee" /><Relationship Type="http://schemas.openxmlformats.org/officeDocument/2006/relationships/slide" Target="/ppt/slides/slide18.xml" Id="R379b07745b8e4f22" /><Relationship Type="http://schemas.openxmlformats.org/officeDocument/2006/relationships/slide" Target="/ppt/slides/slide19.xml" Id="R684d9b73b0b54eb0" /><Relationship Type="http://schemas.openxmlformats.org/officeDocument/2006/relationships/slide" Target="/ppt/slides/slide20.xml" Id="Rd1e22e6be69b416e" /><Relationship Type="http://schemas.openxmlformats.org/officeDocument/2006/relationships/slide" Target="/ppt/slides/slide21.xml" Id="Rcbce3b0f60db4181" /><Relationship Type="http://schemas.openxmlformats.org/officeDocument/2006/relationships/slide" Target="/ppt/slides/slide22.xml" Id="R0624523b3fac43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b1c108643147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82584ac738457d" /><Relationship Type="http://schemas.openxmlformats.org/officeDocument/2006/relationships/notesMaster" Target="/ppt/notesMasters/notesMaster1.xml" Id="R4e96da84af4340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00510736694255" /><Relationship Type="http://schemas.openxmlformats.org/officeDocument/2006/relationships/notesMaster" Target="/ppt/notesMasters/notesMaster1.xml" Id="Rac7d37c8dbef4e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fba2f3dedd480f" /><Relationship Type="http://schemas.openxmlformats.org/officeDocument/2006/relationships/notesMaster" Target="/ppt/notesMasters/notesMaster1.xml" Id="R33ba767725c746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11185c5bc84266" /><Relationship Type="http://schemas.openxmlformats.org/officeDocument/2006/relationships/notesMaster" Target="/ppt/notesMasters/notesMaster1.xml" Id="R6fb93982710149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4131a6eb49466c" /><Relationship Type="http://schemas.openxmlformats.org/officeDocument/2006/relationships/notesMaster" Target="/ppt/notesMasters/notesMaster1.xml" Id="R1b6aab26f19143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c3ff1d17864dde" /><Relationship Type="http://schemas.openxmlformats.org/officeDocument/2006/relationships/notesMaster" Target="/ppt/notesMasters/notesMaster1.xml" Id="R98a8d78b43a349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df9685ef7245d2" /><Relationship Type="http://schemas.openxmlformats.org/officeDocument/2006/relationships/notesMaster" Target="/ppt/notesMasters/notesMaster1.xml" Id="R9d97f62986884b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7eba314bcf477e" /><Relationship Type="http://schemas.openxmlformats.org/officeDocument/2006/relationships/notesMaster" Target="/ppt/notesMasters/notesMaster1.xml" Id="Reba628f1cd0f41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1503f621934b5b" /><Relationship Type="http://schemas.openxmlformats.org/officeDocument/2006/relationships/notesMaster" Target="/ppt/notesMasters/notesMaster1.xml" Id="R4b5d3ce4d9d843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51e98b0e6d49f7" /><Relationship Type="http://schemas.openxmlformats.org/officeDocument/2006/relationships/notesMaster" Target="/ppt/notesMasters/notesMaster1.xml" Id="Re176aeceb7594e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671b9ba9764b12" /><Relationship Type="http://schemas.openxmlformats.org/officeDocument/2006/relationships/notesMaster" Target="/ppt/notesMasters/notesMaster1.xml" Id="R953706231b3740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14ad3387994ac1" /><Relationship Type="http://schemas.openxmlformats.org/officeDocument/2006/relationships/notesMaster" Target="/ppt/notesMasters/notesMaster1.xml" Id="R67f05bb560cb4c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5f323dc3644684" /><Relationship Type="http://schemas.openxmlformats.org/officeDocument/2006/relationships/notesMaster" Target="/ppt/notesMasters/notesMaster1.xml" Id="R4b46f8aad1fa4b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c899d7ef6a4928" /><Relationship Type="http://schemas.openxmlformats.org/officeDocument/2006/relationships/notesMaster" Target="/ppt/notesMasters/notesMaster1.xml" Id="R0d545f01658642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370ea2dd284d44" /><Relationship Type="http://schemas.openxmlformats.org/officeDocument/2006/relationships/notesMaster" Target="/ppt/notesMasters/notesMaster1.xml" Id="R7f5c39f5e85040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e4c3d71047424d" /><Relationship Type="http://schemas.openxmlformats.org/officeDocument/2006/relationships/notesMaster" Target="/ppt/notesMasters/notesMaster1.xml" Id="R5d44082ef5594b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c7f5f685eb4b76" /><Relationship Type="http://schemas.openxmlformats.org/officeDocument/2006/relationships/notesMaster" Target="/ppt/notesMasters/notesMaster1.xml" Id="R4976a14f02c04b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bd58e98da04b0e" /><Relationship Type="http://schemas.openxmlformats.org/officeDocument/2006/relationships/notesMaster" Target="/ppt/notesMasters/notesMaster1.xml" Id="Raa325e60151f48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bdb66e96e441b5" /><Relationship Type="http://schemas.openxmlformats.org/officeDocument/2006/relationships/notesMaster" Target="/ppt/notesMasters/notesMaster1.xml" Id="Rbcde87ff7577411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37e6c9f16d4e69" /><Relationship Type="http://schemas.openxmlformats.org/officeDocument/2006/relationships/notesMaster" Target="/ppt/notesMasters/notesMaster1.xml" Id="R214106c8ffff41d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b91b9168194577" /><Relationship Type="http://schemas.openxmlformats.org/officeDocument/2006/relationships/notesMaster" Target="/ppt/notesMasters/notesMaster1.xml" Id="R4ad6d25b749142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f7d9ca5ad8a448e" /><Relationship Type="http://schemas.openxmlformats.org/officeDocument/2006/relationships/notesMaster" Target="/ppt/notesMasters/notesMaster1.xml" Id="Ra97ff1ac5e2e42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dd996a5c04b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f4b0293a1c4bb5" /><Relationship Type="http://schemas.openxmlformats.org/officeDocument/2006/relationships/slideLayout" Target="/ppt/slideLayouts/slideLayout1.xml" Id="Ra2e58adeb035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58adeb035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182fa782b47df" /><Relationship Type="http://schemas.openxmlformats.org/officeDocument/2006/relationships/notesSlide" Target="/ppt/notesSlides/notesSlide1.xml" Id="Rc90a0ccc68d74f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af764db524f89" /><Relationship Type="http://schemas.openxmlformats.org/officeDocument/2006/relationships/notesSlide" Target="/ppt/notesSlides/notesSlide2.xml" Id="R8378be8f066d4f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4e13abe7841ba" /><Relationship Type="http://schemas.openxmlformats.org/officeDocument/2006/relationships/notesSlide" Target="/ppt/notesSlides/notesSlide3.xml" Id="Rbe2c6fce513c49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92d9e67b745a3" /><Relationship Type="http://schemas.openxmlformats.org/officeDocument/2006/relationships/notesSlide" Target="/ppt/notesSlides/notesSlide4.xml" Id="Ra7461cfa569345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e6b6570ec4c6a" /><Relationship Type="http://schemas.openxmlformats.org/officeDocument/2006/relationships/notesSlide" Target="/ppt/notesSlides/notesSlide5.xml" Id="R3ccc375b043d4e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4c27c30494393" /><Relationship Type="http://schemas.openxmlformats.org/officeDocument/2006/relationships/notesSlide" Target="/ppt/notesSlides/notesSlide6.xml" Id="R6d21baae563a41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93ed6de3f4a0c" /><Relationship Type="http://schemas.openxmlformats.org/officeDocument/2006/relationships/notesSlide" Target="/ppt/notesSlides/notesSlide7.xml" Id="R02866df15d814b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890f0f37d4b93" /><Relationship Type="http://schemas.openxmlformats.org/officeDocument/2006/relationships/notesSlide" Target="/ppt/notesSlides/notesSlide8.xml" Id="R5780421233384a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e6ffcdf944b88" /><Relationship Type="http://schemas.openxmlformats.org/officeDocument/2006/relationships/notesSlide" Target="/ppt/notesSlides/notesSlide9.xml" Id="Re08bb96cb6ea46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04c373f2b4319" /><Relationship Type="http://schemas.openxmlformats.org/officeDocument/2006/relationships/notesSlide" Target="/ppt/notesSlides/notesSlide10.xml" Id="Rea5731eb21d846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b751cffbd4f35" /><Relationship Type="http://schemas.openxmlformats.org/officeDocument/2006/relationships/notesSlide" Target="/ppt/notesSlides/notesSlide11.xml" Id="R4d642513f4554b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caabd0b0f4358" /><Relationship Type="http://schemas.openxmlformats.org/officeDocument/2006/relationships/notesSlide" Target="/ppt/notesSlides/notesSlide12.xml" Id="R29e5bcc2058e45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2125c2a36413d" /><Relationship Type="http://schemas.openxmlformats.org/officeDocument/2006/relationships/notesSlide" Target="/ppt/notesSlides/notesSlide13.xml" Id="R94c80e4864e44f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a24d929b645a5" /><Relationship Type="http://schemas.openxmlformats.org/officeDocument/2006/relationships/notesSlide" Target="/ppt/notesSlides/notesSlide14.xml" Id="R52fdc2fba2d143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02c62f2ed48a2" /><Relationship Type="http://schemas.openxmlformats.org/officeDocument/2006/relationships/notesSlide" Target="/ppt/notesSlides/notesSlide15.xml" Id="R3b81cb6cf4f54d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eea2ae28441f1" /><Relationship Type="http://schemas.openxmlformats.org/officeDocument/2006/relationships/notesSlide" Target="/ppt/notesSlides/notesSlide16.xml" Id="R8b9c5598ecae4a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c9991fcc74f47" /><Relationship Type="http://schemas.openxmlformats.org/officeDocument/2006/relationships/notesSlide" Target="/ppt/notesSlides/notesSlide17.xml" Id="R2879b0794d054a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b065c750845e0" /><Relationship Type="http://schemas.openxmlformats.org/officeDocument/2006/relationships/notesSlide" Target="/ppt/notesSlides/notesSlide18.xml" Id="R70e9140e646942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706099f0f4c6f" /><Relationship Type="http://schemas.openxmlformats.org/officeDocument/2006/relationships/notesSlide" Target="/ppt/notesSlides/notesSlide19.xml" Id="R5b9506a14d114d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6693176f1400b" /><Relationship Type="http://schemas.openxmlformats.org/officeDocument/2006/relationships/notesSlide" Target="/ppt/notesSlides/notesSlide20.xml" Id="R236ad01abff64de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b07fb412d4a8b" /><Relationship Type="http://schemas.openxmlformats.org/officeDocument/2006/relationships/notesSlide" Target="/ppt/notesSlides/notesSlide21.xml" Id="R7d891299d8f740e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61fb19af64e05" /><Relationship Type="http://schemas.openxmlformats.org/officeDocument/2006/relationships/notesSlide" Target="/ppt/notesSlides/notesSlide22.xml" Id="Rfe91d36dfd1f4b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4E466-2EB2-4531-816A-0121FFEA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FE0D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CFE0D7"/>
                </a:solidFill>
                <a:latin typeface="Bitstream Charter"/>
                <a:ea typeface="Bitstream Charter"/>
                <a:cs typeface="Bitstream Charter"/>
              </a:rPr>
              <a:t>FIELDNOTE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CC271-E536-417A-9896-F97CDB42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7239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Enterprise AI evidence</a:t>
            </a:r>
          </a:p>
          <a:p xmlns:a="http://schemas.openxmlformats.org/drawingml/2006/main">
            <a:pPr>
              <a:defRPr sz="39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for better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7CF48-7DAD-4F31-8B7B-13820420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CFE0D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CFE0D7"/>
                </a:solidFill>
                <a:latin typeface="Bitstream Charter"/>
                <a:ea typeface="Bitstream Charter"/>
                <a:cs typeface="Bitstream Charter"/>
              </a:rPr>
              <a:t>Strategy, information foundation and design partner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5AF6A-07A5-4D0C-A32E-67DFB7EA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18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65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5202E-5920-4BE8-A26D-587894AB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Real deployments. Traceable evidence. Practical lessons.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EBD69-789C-47ED-A45B-8D4DC40E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71550"/>
            <a:ext cx="142875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EF90A-DCA2-4FED-A896-C5128F87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42875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CC9A4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0498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62729-D108-40BE-8A07-C8D6FDB3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FIELDNOTE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4711F-7DE9-4D7D-9B9A-0AE23E27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The Fieldnote proposition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6D118-8ABC-4E4A-BABA-1864D92D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ED813-36E0-4861-93B3-16732110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C470C-4D87-4941-8CA3-780ECDA2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Enterprise teams struggle to separate credible deployment evidence from announcements, vendor claims and fragmented case studies.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C9D4E-E9AD-4DB8-8BB3-69E44583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2374C-2715-42D1-AD59-37C94A95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DISCOVER</a:t>
            </a:r>
          </a:p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Relevant deployments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138F3-BA47-491C-B4CD-187C6881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F95C1-9E29-422C-84DF-2C38B35A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3845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ASSESS</a:t>
            </a:r>
          </a:p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Evidence and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74365-45C4-44AA-9194-F93938E8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2CF65-CAA9-4FA1-A64B-28012547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3845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COMPARE</a:t>
            </a:r>
          </a:p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Outcomes and 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73A52-ACA3-4298-A759-5B1D9B10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9525">
            <a:solidFill>
              <a:srgbClr val="2E665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D5A1D-3025-4A6E-A9A7-D0AAEAC8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APPLY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Plan a decision or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7A29D-3026-4C2B-AB31-A04B4B06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Fieldnote converts source material into reviewed deployment records, comparisons and decision guidance.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809C3-E937-42B4-9A47-BFE134F1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Product hypothesis: teams will pay for research they can reuse in a live AI decision.</a:t>
            </a:r>
          </a:p>
        </p:txBody>
      </p:sp>
    </p:spTree>
    <p:extLst>
      <p:ext uri="{BB962C8B-B14F-4D97-AF65-F5344CB8AC3E}">
        <p14:creationId xmlns:p14="http://schemas.microsoft.com/office/powerpoint/2010/main" val="1316203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E0482-309E-4A87-9810-26120B08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FIELDNOTE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C7037-1EE3-4486-BF8B-E7AC9E36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The decisions Fieldnote supports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30730-E0BD-4876-9E7B-215A4CFE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DDBFD-317B-499F-96C4-77EB34F9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7AFD7-F172-409F-AC9B-1E96E1D5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E2A60-09FC-438C-AA8F-92843C10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573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Where could AI improve a business workflow?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C7A8F-D695-4E80-A685-FD88BD83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62175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F3C71-E8CC-44C6-ABBD-F1FA1FF1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8FD34-F029-4E4F-9DEF-9D3382E5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What have comparable companies deployed?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9611C-CACC-43A6-A3EC-60AABD9D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47975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ECBD5-F232-4DDA-9525-2A1DC265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CD8FD-557D-482C-8FAF-A274F1C3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What outcomes were measured and over what period?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AE0EB-29CB-45A4-9F06-2F2A9DCD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33775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23341-68FA-4AE8-A4BC-BAE17FF3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CED39-7AB5-4E36-A752-FB821904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What did implementation require?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08929-6876-4AEE-9BAF-252A2C73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9575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EAFF8-EF60-4BA5-B04E-1D324556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7ECB9-0C21-43D6-AB35-D797B985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What failed, changed or remained undisclosed?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94EBB-190E-402D-A615-4FAF1A91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05375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A1975-F5A9-45C1-A160-E0AAA4F3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956A7-8610-41B4-8B90-906269BA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What should we test in our own environment?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8C105-C306-49E3-AFB0-017FA594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91175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</p:spTree>
    <p:extLst>
      <p:ext uri="{BB962C8B-B14F-4D97-AF65-F5344CB8AC3E}">
        <p14:creationId xmlns:p14="http://schemas.microsoft.com/office/powerpoint/2010/main" val="37836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448D1-1988-468C-ACBF-2939A3E6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FIELDNOTE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77C3F-1C20-4CC3-8E89-E68EA7B2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The evidence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F2894-3C63-4F0C-A07E-51982EB9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C22F4-3142-479D-A79C-D5E66BBC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010F9-7D68-4730-96E1-E8947A29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Company and engineering stories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BE964-0123-434F-A43C-36C4AA2B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240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C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DA2F2-439C-41F8-A5AD-BD7DC4BC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4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Executive interviews and conference talks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80E32-D90C-4F27-BEB6-3FBA9367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241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F0115-D71A-4852-B556-B3235677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Financial disclosures and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777FD-D04C-4B3A-BE68-26108D50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24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009D4-A944-4A4F-A118-B5D63161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News, vendor material and social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ECF2E-38E0-4CFD-92DF-5356A399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243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8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2FABD-C874-4CCF-B17C-83A46643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3053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DB38A-329F-42C1-ACB9-D45188A4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85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WHAT USERS RECEIVE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85455-2216-40ED-8A46-08E4DBB5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3524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Inconsistent definitions</a:t>
            </a:r>
          </a:p>
          <a:p xmlns:a="http://schemas.openxmlformats.org/drawingml/2006/main">
            <a:pPr>
              <a:defRPr sz="18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Missing baselines</a:t>
            </a:r>
          </a:p>
          <a:p xmlns:a="http://schemas.openxmlformats.org/drawingml/2006/main">
            <a:pPr>
              <a:defRPr sz="18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Selective success stories</a:t>
            </a:r>
          </a:p>
          <a:p xmlns:a="http://schemas.openxmlformats.org/drawingml/2006/main">
            <a:pPr>
              <a:defRPr sz="18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Claims detached from source context</a:t>
            </a:r>
          </a:p>
          <a:p xmlns:a="http://schemas.openxmlformats.org/drawingml/2006/main">
            <a:pPr>
              <a:defRPr sz="18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No durable update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4889A-D40C-4783-BEA8-C7A3C1F6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The gap lies in turning scattered material into comparable, maintained evidence.</a:t>
            </a:r>
          </a:p>
        </p:txBody>
      </p:sp>
    </p:spTree>
    <p:extLst>
      <p:ext uri="{BB962C8B-B14F-4D97-AF65-F5344CB8AC3E}">
        <p14:creationId xmlns:p14="http://schemas.microsoft.com/office/powerpoint/2010/main" val="1049813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99E2C-914D-4E79-AAE9-6B0EE1EF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FIELDNOTE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6E34D-B3B4-4C39-BBE1-E5B06D61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Product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5EEEF-B2B2-40A1-A967-C574D169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08277-6679-403F-B1E9-39B421AF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33B59-8B7B-4994-9C9A-92E3EF62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Deployment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01E20-C905-4301-9179-1E3FC690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5735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One implementation, its context, evidence, outcomes and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F825D-2866-48F5-8C5B-DA6A98F8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4A427-3F7C-4412-9BC8-FFDBA06E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F54AB-2C66-47C7-9C9A-9CBC51E7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574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Related deployments assessed on common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A2DF8-B398-4EE1-B3B9-3C545ABA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233F0-A462-4194-852F-6C727BD1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Dossier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00170-E6BB-468F-BD79-40D65483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576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Lessons and recommendations supported by reviewed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70D9E-394E-4364-9B4B-4769D1A4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E0696-E029-47A5-87EB-C05DD1F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Watchlist and briefing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188F3-555C-4B50-8D94-26531D7E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5772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New evidence, corrections and changed outcomes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54FED-FF76-4A89-A055-2877D56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35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BFE51-BB80-4EFC-B0D6-63F934EE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The deployment record is the core product object. Every higher-level output inherits its evidence quality.</a:t>
            </a:r>
          </a:p>
        </p:txBody>
      </p:sp>
    </p:spTree>
    <p:extLst>
      <p:ext uri="{BB962C8B-B14F-4D97-AF65-F5344CB8AC3E}">
        <p14:creationId xmlns:p14="http://schemas.microsoft.com/office/powerpoint/2010/main" val="394751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36E78-F3FC-416D-AAD7-EB95DD5F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PRODUCT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223D4-9F9A-4E12-B0A0-D3001469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Coverage and product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BDDA9-21CE-4EFB-B389-60C8071E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37040-5933-49CB-BB67-4FC1B169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BDECB-046A-4ADC-8746-628C75DA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Initial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98A20-FDD3-40A5-AAAF-498DDA37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3810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Customer service</a:t>
            </a:r>
          </a:p>
          <a:p xmlns:a="http://schemas.openxmlformats.org/drawingml/2006/main">
            <a:pPr>
              <a:defRPr sz="20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Document processing</a:t>
            </a:r>
          </a:p>
          <a:p xmlns:a="http://schemas.openxmlformats.org/drawingml/2006/main">
            <a:pPr>
              <a:defRPr sz="20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Software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0B62D-AEF4-4EFB-9904-9E978B4D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573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A publishable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CCDBE-1EBB-4822-98B2-E5A9A032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A named organization or clearly defined operating context</a:t>
            </a:r>
          </a:p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A specific workflow and AI capability</a:t>
            </a:r>
          </a:p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Evidence that work progressed beyond an announcement</a:t>
            </a:r>
          </a:p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At least one traceable implementation or outcome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8F260-BF18-49A4-89B0-A006ECD8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10048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E4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DD35C-60B9-4889-96B9-23174CF9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Exclude product launches, generic trend articles and unverified anecdotes from the deployment dataset. They may remain discovery leads.</a:t>
            </a:r>
          </a:p>
        </p:txBody>
      </p:sp>
    </p:spTree>
    <p:extLst>
      <p:ext uri="{BB962C8B-B14F-4D97-AF65-F5344CB8AC3E}">
        <p14:creationId xmlns:p14="http://schemas.microsoft.com/office/powerpoint/2010/main" val="1726203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6606B-3C3F-4700-92A3-050E7FBF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PRODUCT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FC8B1-B49D-48B8-993C-A5F2716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Taxonomy and controlled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CCFFC-3A27-41AF-96DA-02665433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5CA6E-4FB5-41CF-A311-B805E29D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D5E14-E4B1-4F5C-9E9D-15D0EA6F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BUSINESS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8F7AC-382D-421D-B064-605C598E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Industry, function, workflow, business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9BE19-1F42-47B8-BD4B-F3B9FCD0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C6869-A5A0-4A94-A621-7E3E8E88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76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AI 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748D9-1E7F-4CE4-8A2F-60489BAA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716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Capability, pattern, technology, vendor, 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3B28E-BD90-487A-A77C-5E9F5403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43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DA678-F6FE-4B7D-B8B1-F19E4118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E2F28-94C2-4235-AFA9-D1DD3EC9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Experiment, pilot, limited production, scaled, stopped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B4BCF-8D12-4396-8C59-FFBA3D79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1F897-EB7B-4B65-91ED-DEDE67F4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9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9EAF1-B1D9-47C6-AFF2-76EF0B31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051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Time, cost, quality, revenue, risk,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CD80E-6D2F-44D6-83A3-F2316D6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76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8B583-5630-43D2-B0BB-99241B32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80279-C87F-4FA8-8811-C6259441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Source type, independence, corroboration, recency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F4E05-34FC-4E0C-95EF-72F7D7C9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46A4B-4166-42BB-991D-B34D5C02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43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CONSTRAINT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F75A1-3342-434E-A3CF-53390A6A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386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Data, security, compliance, integration,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0301B-A4DC-48FF-AC0E-312FC609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10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DAF3A-47D2-4135-9B9E-6044D0D1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Synonyms map to approved terms so search, comparison and benchmarking remain consistent.</a:t>
            </a:r>
          </a:p>
        </p:txBody>
      </p:sp>
    </p:spTree>
    <p:extLst>
      <p:ext uri="{BB962C8B-B14F-4D97-AF65-F5344CB8AC3E}">
        <p14:creationId xmlns:p14="http://schemas.microsoft.com/office/powerpoint/2010/main" val="533956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D9FC9-53F7-4032-A331-9EB6FFC4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PRODUCT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BC088-0127-4F6B-8AF5-DD8E3355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Information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D5540-2B86-4981-BB9E-C05289E2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9AB9D-A65A-4A12-A0FA-476DDBD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5726C-793C-4350-B9A7-2F3B64BB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952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2A4DF-AAB2-4F65-AF0F-3B84F3AF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1685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SOURCE</a:t>
            </a:r>
          </a:p>
          <a:p xmlns:a="http://schemas.openxmlformats.org/drawingml/2006/main">
            <a:pPr>
              <a:def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Publisher and 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17EB3-D117-40C2-BF86-2F725DE4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57375"/>
            <a:ext cx="1952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01E75-33E2-4451-8577-DAB36AFE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33575"/>
            <a:ext cx="1685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CLAIM</a:t>
            </a:r>
          </a:p>
          <a:p xmlns:a="http://schemas.openxmlformats.org/drawingml/2006/main">
            <a:pPr>
              <a:def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Exact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A628B-8A7E-446A-A6C6-90E9F103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57375"/>
            <a:ext cx="1952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6B9DD-5E80-41E4-A840-C31ECBED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33575"/>
            <a:ext cx="1685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DEPLOYMENT</a:t>
            </a:r>
          </a:p>
          <a:p xmlns:a="http://schemas.openxmlformats.org/drawingml/2006/main">
            <a:pPr>
              <a:def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Context and 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2E99D-978C-4AC8-86E4-53903D5C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57375"/>
            <a:ext cx="1952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A9FF2-903F-4DAD-A5D7-53380F75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33575"/>
            <a:ext cx="1685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OUTCOME</a:t>
            </a:r>
          </a:p>
          <a:p xmlns:a="http://schemas.openxmlformats.org/drawingml/2006/main">
            <a:pPr>
              <a:def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Metric and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CE89F-9847-4F9B-877A-6E51427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57375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9525">
            <a:solidFill>
              <a:srgbClr val="2E665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83C33-AB7F-49ED-B195-0D356A1C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33575"/>
            <a:ext cx="1257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75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DECISION ASSET</a:t>
            </a:r>
          </a:p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Comparison or dossier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92AC4-5079-42AA-8807-40743557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3362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C9A4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EB4A6-A35C-4B67-80EA-9F2248B7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33362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C9A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CB3DA-72DD-4923-A40C-0CC34E0D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3362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C9A4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153DA-13C2-4C65-8523-B90CF951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3362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C9A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0E890-F753-42CA-B536-9104346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Person or speaker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3F299-302D-44F9-96B9-4B531903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Evidence excerpt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8B3A2-B078-46A7-94DA-64506154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Technology and vendor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19835-B2D5-49BB-A1D8-C9B242C1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337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Cost and measurement period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0724C0-38DE-48E9-9493-D1C259B5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Review, revision and watchlist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F7F0F-A5DE-4DFA-8480-CF05AC0D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E4D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CC845-38BE-4A0B-A805-CF29E3FE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720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85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Every conclusion retains provenance: source, excerpt, date, location in the source, extraction method, reviewer and revision history.</a:t>
            </a:r>
          </a:p>
        </p:txBody>
      </p:sp>
    </p:spTree>
    <p:extLst>
      <p:ext uri="{BB962C8B-B14F-4D97-AF65-F5344CB8AC3E}">
        <p14:creationId xmlns:p14="http://schemas.microsoft.com/office/powerpoint/2010/main" val="10365630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FAB7B-70FD-4A83-86C0-0DC86F7A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PRODUCT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3377F-88D8-490A-9F38-6E1C7B7E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Deployment record standard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51E32-DCB1-4958-95DE-7F518CB9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D6029-4E2E-4DD7-A875-4C18C797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3E5C2-1932-44FA-A476-B68E67B1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BA5F9-79A9-49A1-92F0-6E9C57B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EVIDENCE AND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BC75D-3558-47BB-901B-87BDD62A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•  Company and operating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E2E2A-453F-4105-8E79-CB2D5D3A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•  Business problem and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F4957-18B5-4387-B1B6-C36A11C8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•  AI capability and implementation pattern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121B7-0109-4BFB-B232-42FF0D36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•  Deployment stage and current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D20E7-EC17-477D-BC01-0F43C898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•  Technology, vendor and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96CC4-C037-4A28-8406-28003F99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•  Outcome, baseline and measurement period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A919E-1CA7-402F-9E62-254342F7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•  Cost or investment when disclosed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755CD-E275-4227-96DA-7763E87C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242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•  Challenges, failures and lessons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7FAC1-D679-4F38-825F-4DA8D15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•  Evidence confidence and unresolved gaps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99FA9-9816-4233-9169-423173F8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00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•  Last review date and revision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1DD3B-FDF4-41DC-A063-7B3172A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Blank fields must distinguish unknown, not disclosed, not applicable and not yet investigated.</a:t>
            </a:r>
          </a:p>
        </p:txBody>
      </p:sp>
    </p:spTree>
    <p:extLst>
      <p:ext uri="{BB962C8B-B14F-4D97-AF65-F5344CB8AC3E}">
        <p14:creationId xmlns:p14="http://schemas.microsoft.com/office/powerpoint/2010/main" val="453792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B0556B-A525-4D94-9BC7-D08FBC66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EVIDENCE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B7F28-15B2-4257-9BF3-7A5FC03B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Source strategy and permitted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A7FBA-E8D7-45CD-BA88-E4B02484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A86AA-D499-4649-AA29-374AFA2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6F6AF-CBE1-46EB-BE59-AFD6224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TIER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97C73-DBD9-4008-97D2-D7AC622B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71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SOURCE 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12E1C-A91D-43F2-860E-E58F1BCC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2F375-0094-4722-AF08-933F80B6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EDITORIAL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079FB-B30F-43B6-810E-58E7106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65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5FC96-2258-4EBA-8851-FFA45E8C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47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45C86-2E07-4A4A-8474-F8DD0264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9775"/>
            <a:ext cx="166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Primary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7FA1A-9F32-4AA6-9FB5-A9B9D121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9775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Filings, company engineering material, named interviews, conference talks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98700-0C6F-45CC-BB08-EA913E2B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977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May support facts and attributed claims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C04AF-EF37-4307-A308-99720F7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F7CF0-4A5D-4FF6-8510-E2B4E4FD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47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2C355-4E3B-4E83-87AD-905C33B0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62275"/>
            <a:ext cx="166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Independent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EBFC2-5F6E-4ED0-A604-8D0C7E7D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62275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Reputable reporting, academic work, institutional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5D56D-49C2-48C7-89A2-CD08C005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6227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May corroborate or challenge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FA2D7-FCAF-4494-AD9A-B4835382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DDBBD-2D2C-47E6-AF8A-12FA41AB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47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1C208-75DD-4FA0-92D7-985CCDA2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14775"/>
            <a:ext cx="166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Commercial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A109D-ABAF-40C4-8DF3-6CEF66D0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14775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Vendor cases, consulting reports, sponsored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1AB5D2-15BB-4FA1-B979-79592C84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1477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Publish with clear attribution and limitations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AAF47-8402-43F7-A31F-45BDECBA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B6D86-964F-41A7-AC2F-CB5531E9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47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8A7C0-5144-4684-92CB-700C7AC5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67275"/>
            <a:ext cx="166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Discovery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7C8F73-3824-450A-9EEE-F39626D9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67275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Social posts, aggregators, unverified newsletters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5F1EAA-1997-4EDA-9201-9CEF1BA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6727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Use to find leads, not to establish outcomes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B1E2F-F6D9-4E87-AD4D-51F521D8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BEE64B-EC80-41C6-8A64-07A85257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The source registry also records access method, refresh frequency, paywall status and usage rights.</a:t>
            </a:r>
          </a:p>
        </p:txBody>
      </p:sp>
    </p:spTree>
    <p:extLst>
      <p:ext uri="{BB962C8B-B14F-4D97-AF65-F5344CB8AC3E}">
        <p14:creationId xmlns:p14="http://schemas.microsoft.com/office/powerpoint/2010/main" val="7155072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9DA24-5B63-43A1-81E4-E012198B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EVIDENCE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1BC78-0BC3-49CE-A464-BF503722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Editorial classification and publication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92F43-660B-4CEC-8750-685DD8C4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39BC7-1F90-4954-B318-A9E65CF2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C7904-1FE0-48AD-A00A-B486A16B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Verified 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C7DDC-1FF3-4FA2-A240-CE7FE21B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82160-AA7D-4AE3-91E6-B778FE6F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38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Company reported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64918-5E31-4BCB-AD00-DB8CC7C5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152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BE5A7-BAA8-4D7A-B710-CBA9CB08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Vendor reported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933DE-1A10-426C-85D1-4DA75D91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DF698-E642-48B7-82B1-0D721E8C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62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Independent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28221-CEA6-4A19-B1B5-8B2F3DA3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032C3-6A95-4A49-B58B-36C78270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Estimate or forecast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D2FAB-CE5A-4631-ADF7-5698BF77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A6D55-39B7-4A1C-A9E6-5D58FCB6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86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Fieldnote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9539C-9E4D-4AFB-BC69-2FC956CC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6004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0DAEE-16F8-4519-8E3F-2BC0BAC8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Fieldnote recommendation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5CCA6D-5994-454D-A7CB-5EB1A12E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FF272-6B88-4436-8E4D-C0EC8CA2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810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Evidence gap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DC41C-6318-45CF-8D7A-CEEC408E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3243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5A8B5-1EC4-4EB9-9E92-E11C780C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0488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56E8F-B3AF-4B76-A1F4-E915F6DA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62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Publication requires traceable claims, explicit attribution, visible gaps and human editorial approval. Conflicting evidence remains visible.</a:t>
            </a:r>
          </a:p>
        </p:txBody>
      </p:sp>
    </p:spTree>
    <p:extLst>
      <p:ext uri="{BB962C8B-B14F-4D97-AF65-F5344CB8AC3E}">
        <p14:creationId xmlns:p14="http://schemas.microsoft.com/office/powerpoint/2010/main" val="12726248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A2B120-EB61-415E-B334-9C11D792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EVIDENCE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C6626-6EA6-4B4D-BA7C-2BDA454C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Evidence confidence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7A2EE-3264-4FBE-8C12-AF0D4848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A0053-F72A-4E29-AB7A-B11FB4C8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7DF5B-80D9-4E79-9B69-05BF75AF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51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Confidence explains the strength of support for a claim. It does not predict whether the same result will transfer to another company.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8A895-556B-4761-95F3-4C262D83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Source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95EAF-E128-4D65-BC70-20C48F4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5619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D8C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B789E-6593-4401-9341-D328009F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4667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A463B-8848-493A-8C8B-A3859426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Independence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5129A-F46F-4870-BB6E-DC7A033D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5619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D8C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4EA31-B0D9-491D-8A1D-190F3219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3714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CC9A4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607F4-D7AB-4990-9DB0-41CE45D7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Specificity and measurement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76102-BA6E-414B-A0C1-03DB6685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95700"/>
            <a:ext cx="5619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D8C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CF7A0-FB0C-458D-BC5D-36941DFF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95700"/>
            <a:ext cx="4381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DFFA8-BAE8-4C22-9F5B-3B5FED50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Corroboration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CD140-9A00-4B65-AFAE-82676518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95775"/>
            <a:ext cx="5619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D8C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CC5A9-010E-451E-916F-8A71802B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95775"/>
            <a:ext cx="3143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13EBC-BA5E-4B77-922B-363D4E95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Recency and completeness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98E48-0360-4887-8C1C-FF286D8C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95850"/>
            <a:ext cx="5619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D8C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7F0E5-7E62-458B-AEA9-75684746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95850"/>
            <a:ext cx="3905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7CAFC-A0DE-4155-8C5E-257ACD5D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476500"/>
            <a:ext cx="1428750" cy="2333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4A8F4-2247-48F8-8932-521AE05D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19375"/>
            <a:ext cx="123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HIGH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MODERATE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E438D-7C6E-48A5-AA68-8D629F1F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The published record shows a written rationale alongside the level. Internal scoring supports consistency but never replaces explanation.</a:t>
            </a:r>
          </a:p>
        </p:txBody>
      </p:sp>
    </p:spTree>
    <p:extLst>
      <p:ext uri="{BB962C8B-B14F-4D97-AF65-F5344CB8AC3E}">
        <p14:creationId xmlns:p14="http://schemas.microsoft.com/office/powerpoint/2010/main" val="1664821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020C5-3E93-4BC7-80C4-82DC8C3B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EVIDENCE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43F5B-608B-4DE8-A41E-20411EC8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Vendor claims and independent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F0F2D-17DC-43B3-853C-C376E9E1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7887A-1999-47F2-8074-55085A0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59A46-1573-48D9-AF6D-BFCFEBAF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VENDOR OR COMPANY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64CED-ECD1-45C7-9874-368CB65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INDEPENDENT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DE4AA-5C4C-444F-B786-6F3D5E02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Who reported the result?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08D76-9632-43C1-A316-BC34FB2F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Who measured or corroborated 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C79C9-B03C-462C-9964-6F24491F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EBF06-F586-4DFA-9A8A-80B9DC7F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What metric and timeframe were stated?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9FD64-829E-4818-9FB0-9F3F81A4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Was the same metric reproduced?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E9331-3DD4-4F95-AA81-DAB614C2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F07EB-CF2C-43F1-A6D7-5B72C10F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What baseline was disclosed?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DE055-46CE-4D46-A509-BBB54EED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Were selection effects or exclusions tested?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50F0E-5EFB-41F4-95F3-713F845B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B6D2D-B246-4997-8597-D4DA1FC6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What conditions supported the outcome?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A304A-75F2-42E4-AC1F-B75A40AF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Do limitations change the interpretation?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32518-DD84-49D1-8218-09749780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1015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65928-0FAD-4F73-9771-4437CD74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153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E4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E1D11-1B68-4AC7-9004-E219A5B9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966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74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Fieldnote displays both sides. Independent confirmation can strengthen a claim, contradict it or remain unavailable.</a:t>
            </a:r>
          </a:p>
        </p:txBody>
      </p:sp>
    </p:spTree>
    <p:extLst>
      <p:ext uri="{BB962C8B-B14F-4D97-AF65-F5344CB8AC3E}">
        <p14:creationId xmlns:p14="http://schemas.microsoft.com/office/powerpoint/2010/main" val="20615067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8E5C32-C40B-499C-A56B-ECBC543A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662ED-BCF1-4D31-B453-AB270560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Source-to-publication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EBB34-E1E6-4212-B367-D47C7B41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6185A-96FB-4453-838D-93ADF1ED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8E473-048F-4B22-A2F1-22F638CF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571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D48A7-8A8D-44C4-9F28-11B86BB7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304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Approved</a:t>
            </a:r>
          </a:p>
          <a:p xmlns:a="http://schemas.openxmlformats.org/drawingml/2006/main">
            <a:pPr>
              <a:def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C1469-CB96-48FC-892F-5A5E2998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3907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C9A4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1DF6D-420C-450F-8FC1-784C8354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52625"/>
            <a:ext cx="1571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405B5-3AB1-479E-B400-06D8CE03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28825"/>
            <a:ext cx="1304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Raw item</a:t>
            </a:r>
          </a:p>
          <a:p xmlns:a="http://schemas.openxmlformats.org/drawingml/2006/main">
            <a:pPr>
              <a:def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captured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04087-AC19-4CDF-954D-3BAFA6A6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3907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C9A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62446-2635-45B7-B4EB-68EF02FC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1571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0BB4F-72B6-46C8-901F-F57E3A0F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28825"/>
            <a:ext cx="1304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Claims</a:t>
            </a:r>
          </a:p>
          <a:p xmlns:a="http://schemas.openxmlformats.org/drawingml/2006/main">
            <a:pPr>
              <a:def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extracted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0FB05-64AC-4C67-8E72-ED2E5B6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907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C9A4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9E6A4-F903-4809-AC93-38C66A2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1571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078AC-FC34-47EF-9188-06D734DD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28825"/>
            <a:ext cx="1304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Record</a:t>
            </a:r>
          </a:p>
          <a:p xmlns:a="http://schemas.openxmlformats.org/drawingml/2006/main">
            <a:pPr>
              <a:def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drafted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DA195-A6E6-4217-8D72-E7D1F400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907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C9A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EF8F8-3AFF-462D-AB98-8918EAA1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1571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47546-E69A-4E66-B6A1-B8CA4A25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28825"/>
            <a:ext cx="1304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Editor</a:t>
            </a:r>
          </a:p>
          <a:p xmlns:a="http://schemas.openxmlformats.org/drawingml/2006/main">
            <a:pPr>
              <a:def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49C44-789D-4B19-9890-AACF5481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907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C9A4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D3C0F-9CA0-44B9-88A9-2AF463A4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52625"/>
            <a:ext cx="1571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9525">
            <a:solidFill>
              <a:srgbClr val="2E665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53132-0975-4017-A443-94F4B728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28825"/>
            <a:ext cx="1304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Published</a:t>
            </a:r>
          </a:p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and monitored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AA9E5-E81D-47B9-A3BE-891DFF8B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5757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Immutable source copy or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1FEFFD-3741-4228-96A9-39C8206A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45757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Deduplication and entity resolution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32931-A8A9-47A8-BE92-DB7E8AD3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5757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Exact excerpt and timestamp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84CB1-5282-40D8-940E-B490171E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5757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Taxonomy and evidence labels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3E58F-15D3-4BBC-BC0E-3B492331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5757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Correction and version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CFDAA8-F2B8-4B81-AF42-6F410D77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09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4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ABDDBD-1076-49FA-9F5A-5EB6D60A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62525"/>
            <a:ext cx="957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AI assists with extraction, tagging and summarization. Editors approve claims, confidence levels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9320465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6AFE6-ECDF-4D04-89F8-F71057B1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04E09-08C3-4543-8A08-1B418AED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Recommendation and dossier standard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61960-6D2B-4167-A83D-81A0EBB2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EAA2A-9ED6-428F-BBAD-CD34A8E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519AE-605B-4CAB-886A-FB4580D2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5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A dossier becomes publishable only when several reviewed deployments support a repeatable lesson.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B7662-1C49-47C0-842F-022E9638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FC7A6-0323-4607-93EB-F5BB6676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431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Evidence 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F3F0D-CA37-4E70-9C79-21ED954E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431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Select comparable deployments and disclose exclusions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10B7A-C140-4C4D-9426-BDBDD57E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95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5B457-DF0A-4BF6-8C7E-A4FD7141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9E091-884F-4883-AC92-70F14172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242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Pattern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6C063-CD1D-4091-96E9-6E4A1002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242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Identify repeated enablers, constraints and outcome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35DEE-03CB-4387-A636-D4F753C3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041B3-ABC7-4123-A071-38925714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FD90A-C2F2-4411-98F7-F612C5BE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A0C33-57F0-405C-89A2-35A638B7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5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State what to consider, avoid, investigate or pause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58825-85FB-4979-ACE0-BDFA4D0E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E62B3-6710-469C-987D-A4914F0B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42509-A3D6-4F9E-8C2F-E309AAFB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86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D29E3-D704-4CAC-983F-55EA42C9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863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Describe where the recommendation may not transfer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3AFD5-107A-469F-B199-FE7D8F36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2518E-070D-4CE3-B3AD-5D971F55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Every recommendation links back to the deployments and claims that support it.</a:t>
            </a:r>
          </a:p>
        </p:txBody>
      </p:sp>
    </p:spTree>
    <p:extLst>
      <p:ext uri="{BB962C8B-B14F-4D97-AF65-F5344CB8AC3E}">
        <p14:creationId xmlns:p14="http://schemas.microsoft.com/office/powerpoint/2010/main" val="8424095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53E49-DBE0-407F-9F28-4503BF8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AEDD2-1935-464D-AB18-85435524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Benchmarking without false precision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D8D8B-D49F-4DDD-AADA-C127FB7A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EA3F5-1EB9-4309-8FE2-BD7781D0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07DD6-6586-4C65-A81D-7AAC668E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VALID COMPARISON CONDITIONS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D379D-94C9-4AC7-9228-139F284E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AVOID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3FC71-7409-4DBF-9AF2-4D9CA4F8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✓  Match industry and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2E1A3-5070-4A41-8713-E6A447DC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✓  Match deployment 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815ED-DFB8-4F6D-AF33-47983ED6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✓  Normalize metric 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8A902-6EE6-4C42-8D25-0E00EF05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✓  Show sample 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F2F17-E9B6-44E7-B585-B07F0776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✓  Expose missing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1DA5F-51E5-4E80-A254-D9EB2972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×  Publisher 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31937-9871-4F44-B336-15B8FD0D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×  Average outcome across unlike metrics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F1980-A6C9-446B-B074-7D4D6CC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528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×  Ranking based on vendor 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4EDB6-66BA-4EFE-99A7-DF27A547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81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×  ROI without baseline or period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C37EF-A836-472A-A16B-BEB12F9B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10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×  Peer label without similarity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165A2-AD56-44FC-9DD1-FB9CF8A3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Early benchmarks should show ranges and comparable examples before claiming market norms.</a:t>
            </a:r>
          </a:p>
        </p:txBody>
      </p:sp>
    </p:spTree>
    <p:extLst>
      <p:ext uri="{BB962C8B-B14F-4D97-AF65-F5344CB8AC3E}">
        <p14:creationId xmlns:p14="http://schemas.microsoft.com/office/powerpoint/2010/main" val="18121810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FB6A1C-F79B-48DD-B95B-6C5B201F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EXECUTION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C456F-E837-496E-8C95-9E3E19A1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Foundation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8A968-2FDD-49C5-BE0F-470E4B93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80924-9972-4680-AA7A-32FFBB84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51DD9-11CC-4838-9F4E-451968A8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52BB8-3FAE-4572-821A-3859DC7E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Product charter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E7FBE-4DF2-4325-A06A-6226C77E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62100"/>
            <a:ext cx="700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User, decision, coverage, inclusion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22480-B074-4F7A-ABAD-F9768726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4A1AA-0E14-4F7E-9D16-0508E30A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95870-C10E-4056-935E-EE45808E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Taxonomy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5A0A2-1727-4698-87B5-3319F40C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86000"/>
            <a:ext cx="700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Controlled terms and lifecycle definitions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32E78-F7DD-46D5-AE20-8D455A1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6DB0B-2BB6-4B20-B2E2-91A2EF71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0D512-971A-4D0E-BD9E-B2461129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Information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48335-F78D-44DF-B71E-FB909646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09900"/>
            <a:ext cx="700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Entities, fields, relationships, versioning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CDCAF-7F1B-4AD6-9010-63B00F03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6B0CD-2EBD-4B46-AC48-1F5EE15D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8AEE2-FC11-4EA6-89F3-51D6E309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92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Source and editorial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4761F-1C42-472E-A2D9-A6FF1406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33800"/>
            <a:ext cx="700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Registry, evidence labels, publication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B4CE9-F152-4CD6-BCD3-6F35CDE3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FE6E6-5B9E-4358-AE65-C5E1553F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C9C3A-9589-4A39-9B8E-238F23C5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Golden dataset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85577-38F8-49D7-ACF7-4E921194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57700"/>
            <a:ext cx="700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Calibrated records and quality measurement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FAC7B-A5AD-48CD-9B2C-134DB827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B8E1B-88E6-44F5-A41A-C2C5848A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27E961-4BB2-4BCD-90DE-AB4DB17B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Product and pilot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020C4-1161-40FA-A753-F675F85E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81600"/>
            <a:ext cx="700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Discovery, comparison, design partner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2FF4A-F842-436F-8241-C6773E23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959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</p:spTree>
    <p:extLst>
      <p:ext uri="{BB962C8B-B14F-4D97-AF65-F5344CB8AC3E}">
        <p14:creationId xmlns:p14="http://schemas.microsoft.com/office/powerpoint/2010/main" val="3158617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A905E1-B842-4B4D-BA6F-14F32EC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EXECUTION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D5347-A131-463C-9B67-37F18391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Quality gates and operating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830CD-77A7-47FE-9780-42AB2A73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57131-0A09-4A7B-A3C8-9C70012A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235E3-AE84-4808-A74A-E81E8775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784CC-AFC1-4FD8-990A-745A56F5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09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CE760-B9BC-4F39-884F-1172354C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192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Model approved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6CA58-A46F-486C-A55B-FAF5969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Five sample records fit the schema without ad hoc 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3C153-8F7A-423C-B238-1D6D10CD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1457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30947-1F82-4347-976C-968DBA52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EB3FD-B6C6-4FBC-BFBD-02469874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09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DF323-5F40-4D35-BA90-D35C1B49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717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Editorial system 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A6BA4-01A4-4F77-AF30-3FE37E8C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Every claim traces to a source and has an evidence 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D6352-A065-410A-830C-383AB166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6707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896EF-8BE6-4D09-8627-E067CF3A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DC7B3-2623-4365-B221-2EF64E96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09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C4F8D-9026-4CC0-BB35-0F8E4CB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Dataset credible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ADF11-247F-4B51-B43D-35915F7C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Reviewer agreement, completeness and production effort are measured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62F90-1FD0-4B9D-925B-667F7920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1957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60126-3CA5-4DDB-AC32-4B35EECF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3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8471D-E685-4BE3-A196-AB484112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09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563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21B9D-D454-4D8C-8C73-185ADA88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242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Pilot 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A0C5A-82DA-4C31-A84C-EF25E82B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767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50 to 100 reviewed records support real search and comparison tasks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9C0F1-5E71-4A99-A469-ED57653F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7207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B03DF-E654-489D-BD4B-A51A0DFA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Track claim traceability, record completeness, reviewer agreement, time per record, update latency and cost per reviewed record.</a:t>
            </a:r>
          </a:p>
        </p:txBody>
      </p:sp>
    </p:spTree>
    <p:extLst>
      <p:ext uri="{BB962C8B-B14F-4D97-AF65-F5344CB8AC3E}">
        <p14:creationId xmlns:p14="http://schemas.microsoft.com/office/powerpoint/2010/main" val="1358975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FEE806-BE7A-437A-BC1A-C5D4F592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EXECUTION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6E7E8-7849-4F9A-8BA4-4C4025FA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Team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992DA-8F38-4298-BBCD-A6EC603D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EF081-741A-4DE1-ADD6-7D38B789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D8F75-6DB8-4C61-BCC2-0A50E333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Product lead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CEAFA-FF29-4E16-BA3D-5FD7E49B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Scope, priorities, acceptance criteria, design partners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6D445-3821-4CF3-93A8-46D26140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D3825-5234-4777-AACD-930E93F5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002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Editorial lead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F35B8-186A-4642-BC83-87D9A523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621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Evidence policy, publication approval, corrections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F5D98-636E-4EE1-A48B-4BA20414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6193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B5F41-21E1-4A9C-9CC1-E7FB4762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Research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A0807-7F81-4CE3-A7A6-98175844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Source registry, case research, record 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66F52-4FDA-4C1F-B4EB-25ABA36B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86C6B-AC36-4542-BBDB-DCC57288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575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Data architect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A8122-DD00-4D33-8AA4-8C6B85C4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194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Schema, identifiers, relationships, version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E0147-A7E7-49C4-B63C-8650CAA5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8766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6D9AC-2803-457E-B2A8-7715049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Data and AI 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4975E-EDC6-4723-80DA-7A1E0946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Ingestion, extraction, deduplication, provenance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DF2A5-9B1D-407B-931D-29E62955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6959E-85B5-41A9-8099-5C06B4AA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148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Design and 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3ADB4-CC3A-4371-9CA6-A24F0A04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4767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Record, comparison, dossier and watchlist experience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EEE66-F17F-4F06-B21C-D4DE91EC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1339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5BF45-1C54-42AC-9D70-1C6C7B8A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10048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4D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C4BAD-7C0E-431F-82EE-F24E0EEC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530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The editorial lead and data architect jointly own the foundation because the schema encodes editorial judgment.</a:t>
            </a:r>
          </a:p>
        </p:txBody>
      </p:sp>
    </p:spTree>
    <p:extLst>
      <p:ext uri="{BB962C8B-B14F-4D97-AF65-F5344CB8AC3E}">
        <p14:creationId xmlns:p14="http://schemas.microsoft.com/office/powerpoint/2010/main" val="17573462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4C8CD-22F4-4710-B69D-E4EBF406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00B25-2276-4778-92B5-B8DED443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Design partner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9C170-C301-4EB0-B1BF-6D627292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7BFDE-D7A5-41EA-91A3-3A4CB24E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A8676-EE88-4F32-9B40-ACB7F008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50–100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75B30-BB25-40C2-8961-3E72060B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reviewed deployment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FD0A3-83B1-41C7-9879-41B733B6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81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10–15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ED3C0-0EF5-4CD1-BE9D-6CC671C3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90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target users with active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9EA5F-4962-4922-8DE3-9085201D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3–5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33721-49E1-4101-B023-A786268B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decision studies followed end to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F794B-93AE-4ECD-B28B-301458D6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086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7F9E7-78C4-4FF6-A64B-D3D8111A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SUCCESS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BC6A3-A9DF-41D7-B689-8A0C0BBC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04887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Users return without prompting</a:t>
            </a:r>
          </a:p>
          <a:p xmlns:a="http://schemas.openxmlformats.org/drawingml/2006/main">
            <a:pPr>
              <a:def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Fieldnote evidence appears in a meeting, shortlist or decision document</a:t>
            </a:r>
          </a:p>
          <a:p xmlns:a="http://schemas.openxmlformats.org/drawingml/2006/main">
            <a:pPr>
              <a:def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Users identify missing evidence earlier</a:t>
            </a:r>
          </a:p>
          <a:p xmlns:a="http://schemas.openxmlformats.org/drawingml/2006/main">
            <a:pPr>
              <a:def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A design partner commits to a paid continuation</a:t>
            </a:r>
          </a:p>
          <a:p xmlns:a="http://schemas.openxmlformats.org/drawingml/2006/main">
            <a:pPr>
              <a:def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The team understands record cost, review effort and update burden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24077-6FB5-427C-A3B3-876477AF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Each participant brings one live AI decision. Page views alone do not validate the product.</a:t>
            </a:r>
          </a:p>
        </p:txBody>
      </p:sp>
    </p:spTree>
    <p:extLst>
      <p:ext uri="{BB962C8B-B14F-4D97-AF65-F5344CB8AC3E}">
        <p14:creationId xmlns:p14="http://schemas.microsoft.com/office/powerpoint/2010/main" val="5830237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DE51A-8B52-4B57-8B34-94E58C54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C8D95-3389-41C5-B1D8-57CAC9E0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Commercial model to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1E511-BF1A-4A4E-934A-92B3612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A1841-559F-426C-A3E2-8643CF91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1EE5E-3F1B-43E0-8573-BF3EB758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OFFER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6C632-E48F-4C6A-AC2F-61773868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00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INCLUDES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207A4-136B-44B4-A60A-A6AAA079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0200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COMMERCIAL PURPOSE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50F24-1067-48E7-90B6-B3AB9F5E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0182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65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480A7-5262-42D3-882D-0BDCAFAB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Free 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A9926-F2E4-4958-8268-90199CE6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Selected deployment records and a regular briefing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AD7E6-6E35-49B2-9F92-638591EA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Build trust and create qualified demand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77BD7-3F27-4F77-B135-E305FA73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10182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B301B-A1ED-4881-BC48-1249729A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A9563D"/>
                </a:solidFill>
                <a:latin typeface="Bitstream Charter"/>
                <a:ea typeface="Bitstream Charter"/>
                <a:cs typeface="Bitstream Charter"/>
              </a:rPr>
              <a:t>Team subscription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E223D-A876-4B5E-B5F2-C6DCBBD4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Full records, comparisons, watchlists and exports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2BA35-F608-47E4-BD64-8E68A3AB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Support recurring research and portfolio reviews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1FC2B-CA78-4EED-A99A-7AE649B3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0182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8DB6D-4909-43B2-A67C-B158D1FA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Research engagement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F4D94-3ED5-4BE5-B2F2-B09BF70D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Decision dossier, benchmark set or pilot evidence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505C1-01D6-4144-A807-6855E9CB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Serve high-value decisions and learn before scaling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150B1-B765-45C7-ABF5-E715ACD7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10182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A5A57-006E-45AF-8ABA-DB9EB3F4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9127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Pricing follows observed decision value and production economics. The pilot should test both.</a:t>
            </a:r>
          </a:p>
        </p:txBody>
      </p:sp>
    </p:spTree>
    <p:extLst>
      <p:ext uri="{BB962C8B-B14F-4D97-AF65-F5344CB8AC3E}">
        <p14:creationId xmlns:p14="http://schemas.microsoft.com/office/powerpoint/2010/main" val="405812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ADAC6-81DE-4DB9-8337-B7DF6C79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i="0">
                <a:solidFill>
                  <a:srgbClr val="2E6656"/>
                </a:solidFill>
                <a:latin typeface="Bitstream Charter"/>
                <a:ea typeface="Bitstream Charter"/>
                <a:cs typeface="Bitstream Charter"/>
              </a:rPr>
              <a:t>EXECUTION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19D9E-8BDA-4B66-A6D4-1FE52EE8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The next 30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DC83A-5D89-41EC-96CC-A7ADEF6F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0ECF4-2FB7-4C07-B193-9D92088C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7746F"/>
                </a:solidFill>
                <a:latin typeface="Bitstream Charter"/>
                <a:ea typeface="Bitstream Charter"/>
                <a:cs typeface="Bitstream Charter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960BC-65BE-4565-AAB6-B73404C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381125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1F25E-3403-42F3-A8BB-30A791C6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335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WEEK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74924-1C1B-4548-AE03-C42AC122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Approve product charter, inclusion rules and initial taxonomy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410C2-A7A7-4C27-9AB9-C7067591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F5222-F3ED-469F-9A43-B0F1AB89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381125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CF3AA-1E0D-4DC8-A45F-114B3DF1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051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WEEK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0351C-A891-4FDD-A4BC-859AA75E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3842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Complete the information model, source registry and five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E55AF-D928-4552-92B3-38B54A77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A8FD4-4680-4627-9292-4F1DAE7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1381125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E665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88712-9168-4D4C-965C-BB5745A1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766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WEEK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200B5-147A-4836-86A0-8AD5E2BC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997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Calibrate editorial rules using 15 additional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E424A-933A-42AD-BA8A-916C6D4A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7E62A-34A3-4050-A958-6EE9CE59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381125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A9563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A1847-8A16-4AE2-9487-2EADC4F5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482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WEEK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7CC9B-3D63-4074-B072-2789EB7B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8152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Freeze foundation v1, start the golden dataset and recruit design partners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7F4FA9-04F9-4E40-96B2-FB6320E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8C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4A763-F5BB-470E-9943-7FDDB960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99441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8E4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76C3A-77C1-4730-8244-2EA29EDC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73E35"/>
                </a:solidFill>
                <a:latin typeface="Bitstream Charter"/>
                <a:ea typeface="Bitstream Charter"/>
                <a:cs typeface="Bitstream Charter"/>
              </a:rPr>
              <a:t>Automation begins after the second calibration set shows consistent records and review decisions.</a:t>
            </a:r>
          </a:p>
        </p:txBody>
      </p:sp>
    </p:spTree>
    <p:extLst>
      <p:ext uri="{BB962C8B-B14F-4D97-AF65-F5344CB8AC3E}">
        <p14:creationId xmlns:p14="http://schemas.microsoft.com/office/powerpoint/2010/main" val="907808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2026-09-21T12:21:31.8160000Z</dcterms:created>
  <dcterms:modified xsi:type="dcterms:W3CDTF">2026-09-21T12:21:31.8160000Z</dcterms:modified>
</coreProperties>
</file>